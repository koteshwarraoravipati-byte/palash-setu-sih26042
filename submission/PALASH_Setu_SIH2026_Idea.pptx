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54864" rIns="54864" tIns="36576" bIns="36576"/>
          <a:lstStyle/>
          <a:p>
            <a:pPr algn="ctr"/>
            <a:r>
              <a:rPr sz="1700" b="1">
                <a:solidFill>
                  <a:srgbClr val="17847E"/>
                </a:solidFill>
                <a:latin typeface="Arial"/>
              </a:rPr>
              <a:t>OFFLINE AI FOR MOTHER-TONGUE FLN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54864" rIns="54864" tIns="36576" bIns="36576"/>
          <a:lstStyle/>
          <a:p>
            <a:pPr algn="ctr"/>
            <a:r>
              <a:rPr sz="2900" b="1">
                <a:solidFill>
                  <a:srgbClr val="132D4B"/>
                </a:solidFill>
                <a:latin typeface="Arial"/>
              </a:rPr>
              <a:t>PALASH SETU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54864" rIns="54864" tIns="36576" bIns="36576">
            <a:spAutoFit/>
          </a:bodyPr>
          <a:lstStyle/>
          <a:p>
            <a:pPr algn="l"/>
            <a:r>
              <a:rPr sz="1350" b="0">
                <a:solidFill>
                  <a:srgbClr val="232B35"/>
                </a:solidFill>
                <a:latin typeface="Arial"/>
              </a:rPr>
              <a:t>Problem Statement ID – SIH26042
Problem Statement Title – AI-Powered Vernacular Pedagogy and Real-Time Translation Tool for Mother Tongue-Based Primary Education
Theme – Smart Education
PS Category – Software
Team ID – Not Assigned (Internal Round)
Team Name – Team Sprit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54864" rIns="54864" tIns="36576" bIns="36576"/>
          <a:lstStyle/>
          <a:p>
            <a:pPr eaLnBrk="1" hangingPunct="1" algn="ctr"/>
            <a:r>
              <a:rPr sz="2500" b="1">
                <a:solidFill>
                  <a:srgbClr val="132D4B"/>
                </a:solidFill>
                <a:latin typeface="Arial"/>
              </a:rPr>
              <a:t>PALASH SETU | THE IDEA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TEAM SPRIT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02920" y="1234440"/>
            <a:ext cx="3566160" cy="1508760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THE GAP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Hindi-medium teachers are assigned to tribal-area schools but may not speak the child’s home language.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Lesson scripts, activities and assessments are difficult to deliver consistently in Santhali.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315968" y="1234440"/>
            <a:ext cx="3566160" cy="150876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THE SOLUTION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An offline Android teaching companion that converts approved Hindi FLN content into Santhali text, pronunciation and audio.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Teacher speaks Hindi; students receive a clear mother-tongue classroom prompt.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129016" y="1234440"/>
            <a:ext cx="3566160" cy="15087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PROTOTYPE SCOPE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Santhali first • Grades 1–3 • Literacy + numeracy</a:t>
            </a:r>
          </a:p>
          <a:p>
            <a:pPr>
              <a:spcAft>
                <a:spcPts val="100"/>
              </a:spcAft>
              <a:defRPr sz="1140">
                <a:solidFill>
                  <a:srgbClr val="232B35"/>
                </a:solidFill>
                <a:latin typeface="Arial"/>
              </a:defRPr>
            </a:pPr>
            <a:r>
              <a:t>Works after sync on Android 9+ tablets; no internet during class.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40080" y="3154680"/>
            <a:ext cx="141732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TEACHER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2331720" y="3154680"/>
            <a:ext cx="1554480" cy="310896"/>
          </a:xfrm>
          <a:prstGeom prst="round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HINDI VOICE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60520" y="3154680"/>
            <a:ext cx="1737360" cy="310896"/>
          </a:xfrm>
          <a:prstGeom prst="roundRect">
            <a:avLst/>
          </a:prstGeom>
          <a:solidFill>
            <a:srgbClr val="17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OFFLINE AI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172200" y="3154680"/>
            <a:ext cx="1691640" cy="310896"/>
          </a:xfrm>
          <a:prstGeom prst="round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SANTHALI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138160" y="3154680"/>
            <a:ext cx="141732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AUDIO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9829800" y="3154680"/>
            <a:ext cx="1691640" cy="310896"/>
          </a:xfrm>
          <a:prstGeom prst="roundRect">
            <a:avLst/>
          </a:prstGeom>
          <a:solidFill>
            <a:srgbClr val="17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LEARNING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2057400" y="3310128"/>
            <a:ext cx="228600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3" name="Connector 15372"/>
          <p:cNvCxnSpPr/>
          <p:nvPr/>
        </p:nvCxnSpPr>
        <p:spPr>
          <a:xfrm>
            <a:off x="3977639" y="3310128"/>
            <a:ext cx="228601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4" name="Connector 15373"/>
          <p:cNvCxnSpPr/>
          <p:nvPr/>
        </p:nvCxnSpPr>
        <p:spPr>
          <a:xfrm>
            <a:off x="5989320" y="3310128"/>
            <a:ext cx="228600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5" name="Connector 15374"/>
          <p:cNvCxnSpPr/>
          <p:nvPr/>
        </p:nvCxnSpPr>
        <p:spPr>
          <a:xfrm>
            <a:off x="7955279" y="3310128"/>
            <a:ext cx="228600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6" name="Connector 15375"/>
          <p:cNvCxnSpPr/>
          <p:nvPr/>
        </p:nvCxnSpPr>
        <p:spPr>
          <a:xfrm>
            <a:off x="9646920" y="3310128"/>
            <a:ext cx="228600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640080" y="3794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WHAT THE TEACHER GETS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Ready lesson scripts and activity instructions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Tap-to-play pronunciation and visual flashcards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Confidence support without prior language training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279392" y="3794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WHAT THE CHILD GETS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Mother-tongue prompts linked to familiar objects and actions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More participation, listening practice and comprehension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Bilingual worksheets for reinforcement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7918704" y="3794760"/>
            <a:ext cx="3776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WHY IT IS DIFFERENT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Offline-first, classroom-domain translation—not a generic translator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Native-speaker review, approved content packs and safe fallbacks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Designed for low-cost devices and weak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36576" bIns="36576"/>
          <a:lstStyle/>
          <a:p>
            <a:pPr eaLnBrk="1" hangingPunct="1" algn="ctr"/>
            <a:r>
              <a:rPr sz="2500" b="1">
                <a:solidFill>
                  <a:srgbClr val="132D4B"/>
                </a:solidFill>
                <a:latin typeface="Arial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TEAM SPRIT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94360" y="1234440"/>
            <a:ext cx="1691640" cy="310896"/>
          </a:xfrm>
          <a:prstGeom prst="round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CONTENT PACK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14600" y="1234440"/>
            <a:ext cx="1691640" cy="310896"/>
          </a:xfrm>
          <a:prstGeom prst="roundRect">
            <a:avLst/>
          </a:prstGeom>
          <a:solidFill>
            <a:srgbClr val="17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ANDROID APP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434840" y="1234440"/>
            <a:ext cx="169164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LOCAL AI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55080" y="1234440"/>
            <a:ext cx="1691640" cy="310896"/>
          </a:xfrm>
          <a:prstGeom prst="round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OUTPUTS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275320" y="1234440"/>
            <a:ext cx="1691640" cy="310896"/>
          </a:xfrm>
          <a:prstGeom prst="roundRect">
            <a:avLst/>
          </a:prstGeom>
          <a:solidFill>
            <a:srgbClr val="17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TEACHER LOOP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195560" y="1234440"/>
            <a:ext cx="1280160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SYNC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286000" y="1389888"/>
            <a:ext cx="201168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4206240" y="1389888"/>
            <a:ext cx="201167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6126480" y="1389888"/>
            <a:ext cx="201168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8046720" y="1389888"/>
            <a:ext cx="201168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9966960" y="1389888"/>
            <a:ext cx="201168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94360" y="1755648"/>
            <a:ext cx="1691640" cy="11155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Approved data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Hindi scripts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Santhali text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Native audio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NIPUN outcome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514600" y="1755648"/>
            <a:ext cx="1691640" cy="1115568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Offline UI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Kotlin + Compose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Room/SQLite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Airplane-mode first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34840" y="1755648"/>
            <a:ext cx="1691640" cy="1115568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Inference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Hindi ASR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Phrase retrieval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Templates + fallback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Confidence flag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355080" y="1755648"/>
            <a:ext cx="1691640" cy="11155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Teaching aids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Text + transliteration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Audio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Worksheet PDF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Flashcards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275320" y="1755648"/>
            <a:ext cx="1691640" cy="1115568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Classroom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Teacher speaks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Child listens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Child responds</a:t>
            </a:r>
          </a:p>
          <a:p>
            <a:pPr>
              <a:spcAft>
                <a:spcPts val="100"/>
              </a:spcAft>
              <a:defRPr sz="1019">
                <a:solidFill>
                  <a:srgbClr val="232B35"/>
                </a:solidFill>
                <a:latin typeface="Arial"/>
              </a:defRPr>
            </a:pPr>
            <a:r>
              <a:t>Teacher confirms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10195560" y="1755648"/>
            <a:ext cx="1280160" cy="1115568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Optional</a:t>
            </a:r>
          </a:p>
          <a:p>
            <a:pPr>
              <a:spcAft>
                <a:spcPts val="100"/>
              </a:spcAft>
              <a:defRPr sz="969">
                <a:solidFill>
                  <a:srgbClr val="232B35"/>
                </a:solidFill>
                <a:latin typeface="Arial"/>
              </a:defRPr>
            </a:pPr>
            <a:r>
              <a:t>Versioned</a:t>
            </a:r>
          </a:p>
          <a:p>
            <a:pPr>
              <a:spcAft>
                <a:spcPts val="100"/>
              </a:spcAft>
              <a:defRPr sz="969">
                <a:solidFill>
                  <a:srgbClr val="232B35"/>
                </a:solidFill>
                <a:latin typeface="Arial"/>
              </a:defRPr>
            </a:pPr>
            <a:r>
              <a:t>resumable</a:t>
            </a:r>
          </a:p>
          <a:p>
            <a:pPr>
              <a:spcAft>
                <a:spcPts val="100"/>
              </a:spcAft>
              <a:defRPr sz="969">
                <a:solidFill>
                  <a:srgbClr val="232B35"/>
                </a:solidFill>
                <a:latin typeface="Arial"/>
              </a:defRPr>
            </a:pPr>
            <a:r>
              <a:t>content sync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3246120"/>
            <a:ext cx="35661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TECHNOLOGIES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Android: Kotlin, Jetpack Compose, Room/SQLite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AI runtime: ONNX Runtime or TensorFlow Lite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Speech: small offline Hindi ASR; benchmark Vosk/Whisper Tiny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Sync utility: FastAPI content-pack service (not needed in class)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Output: Android PDF/PNG worksheet renderer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315968" y="3246120"/>
            <a:ext cx="35661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IMPLEMENTATION METHOD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1. Collect 300–500 classroom phrases and FLN prompts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2. Review translations and audio with a Santhali speaker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3. Package lessons, flashcards and audio for offline use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4. Add Hindi voice → approved Santhali response loop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5. Test latency, memory, accuracy and airplane mode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37575" y="3246120"/>
            <a:ext cx="343814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LATENCY TARGET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Target budget: ASR 1.5 s + retrieval 0.5 s + audio 1.0 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Total target: ≤ 3 seconds on the actual low-cost tablet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If speech is unclear: show text buttons and replay approved audio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The final demo will report measured—not assumed—latency.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36576" bIns="36576"/>
          <a:lstStyle/>
          <a:p>
            <a:pPr eaLnBrk="1" hangingPunct="1" algn="ctr"/>
            <a:r>
              <a:rPr sz="2500" b="1">
                <a:solidFill>
                  <a:srgbClr val="132D4B"/>
                </a:solidFill>
                <a:latin typeface="Arial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TEAM SPRIT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94360" y="1234440"/>
            <a:ext cx="3493008" cy="130759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WHY IT IS FEASIBLE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A bounded classroom phrase set is smaller and safer than open-domain translation.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Preloaded audio and quantized models reduce dependence on connectivity and hardware.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34256" y="1234440"/>
            <a:ext cx="3493008" cy="1307592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PILOTABLE MVP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One language, three grades, two FLN domains, five lessons, 20 flashcards and 10 worksheets.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A teacher can use it from a tablet in airplane mode after initial sync.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74152" y="1234440"/>
            <a:ext cx="3493008" cy="1307592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SCALE PATH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Add Ho and Mundari only after language data and reviewer networks are ready.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New lessons arrive as signed, versioned content packs.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94360" y="2724912"/>
            <a:ext cx="1874519" cy="310896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560320" y="2724912"/>
            <a:ext cx="2743200" cy="310896"/>
          </a:xfrm>
          <a:prstGeom prst="round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EFFECT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40680" y="2724912"/>
            <a:ext cx="5989320" cy="310896"/>
          </a:xfrm>
          <a:prstGeom prst="roundRect">
            <a:avLst/>
          </a:prstGeom>
          <a:solidFill>
            <a:srgbClr val="17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94360" y="3063240"/>
            <a:ext cx="1874519" cy="347472"/>
          </a:xfrm>
          <a:prstGeom prst="rect">
            <a:avLst/>
          </a:prstGeom>
          <a:solidFill>
            <a:srgbClr val="FDF2E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30" b="1">
                <a:solidFill>
                  <a:srgbClr val="232B35"/>
                </a:solidFill>
                <a:latin typeface="Arial"/>
              </a:rPr>
              <a:t>Limited Santhali data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560320" y="3063240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Inaccurate or unnatural output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5440680" y="3063240"/>
            <a:ext cx="5989320" cy="347472"/>
          </a:xfrm>
          <a:prstGeom prst="rect">
            <a:avLst/>
          </a:prstGeom>
          <a:solidFill>
            <a:srgbClr val="E7F7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Phrase/template-first engine; native-speaker approval before release.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94360" y="3456432"/>
            <a:ext cx="1874519" cy="347472"/>
          </a:xfrm>
          <a:prstGeom prst="rect">
            <a:avLst/>
          </a:prstGeom>
          <a:solidFill>
            <a:srgbClr val="FDF2E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30" b="1">
                <a:solidFill>
                  <a:srgbClr val="232B35"/>
                </a:solidFill>
                <a:latin typeface="Arial"/>
              </a:rPr>
              <a:t>Accent/noise in ASR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560320" y="3456432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Wrong classroom prompt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440680" y="3456432"/>
            <a:ext cx="5989320" cy="347472"/>
          </a:xfrm>
          <a:prstGeom prst="rect">
            <a:avLst/>
          </a:prstGeom>
          <a:solidFill>
            <a:srgbClr val="E7F7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Push-to-talk, classroom phrase buttons, text fallback and replay.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94360" y="3849624"/>
            <a:ext cx="1874519" cy="347472"/>
          </a:xfrm>
          <a:prstGeom prst="rect">
            <a:avLst/>
          </a:prstGeom>
          <a:solidFill>
            <a:srgbClr val="FDF2E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30" b="1">
                <a:solidFill>
                  <a:srgbClr val="232B35"/>
                </a:solidFill>
                <a:latin typeface="Arial"/>
              </a:rPr>
              <a:t>Target-language TTS gap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560320" y="3849624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Poor pronunciation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5440680" y="3849624"/>
            <a:ext cx="5989320" cy="347472"/>
          </a:xfrm>
          <a:prstGeom prst="rect">
            <a:avLst/>
          </a:prstGeom>
          <a:solidFill>
            <a:srgbClr val="E7F7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Use reviewed native recordings first; add TTS only after validation.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94360" y="4242816"/>
            <a:ext cx="1874519" cy="347472"/>
          </a:xfrm>
          <a:prstGeom prst="rect">
            <a:avLst/>
          </a:prstGeom>
          <a:solidFill>
            <a:srgbClr val="FDF2E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30" b="1">
                <a:solidFill>
                  <a:srgbClr val="232B35"/>
                </a:solidFill>
                <a:latin typeface="Arial"/>
              </a:rPr>
              <a:t>2 GB RAM / weak device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2560320" y="42428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Slow or crashing app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5440680" y="4242816"/>
            <a:ext cx="5989320" cy="347472"/>
          </a:xfrm>
          <a:prstGeom prst="rect">
            <a:avLst/>
          </a:prstGeom>
          <a:solidFill>
            <a:srgbClr val="E7F7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Quantized model, lazy loading, cached audio and no cloud call.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594360" y="4636008"/>
            <a:ext cx="1874519" cy="347472"/>
          </a:xfrm>
          <a:prstGeom prst="rect">
            <a:avLst/>
          </a:prstGeom>
          <a:solidFill>
            <a:srgbClr val="FDF2E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30" b="1">
                <a:solidFill>
                  <a:srgbClr val="232B35"/>
                </a:solidFill>
                <a:latin typeface="Arial"/>
              </a:rPr>
              <a:t>Content changes offline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2560320" y="4636008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Old lesson version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5440680" y="4636008"/>
            <a:ext cx="5989320" cy="347472"/>
          </a:xfrm>
          <a:prstGeom prst="rect">
            <a:avLst/>
          </a:prstGeom>
          <a:solidFill>
            <a:srgbClr val="E7F7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/>
            <a:r>
              <a:rPr sz="1019" b="0">
                <a:solidFill>
                  <a:srgbClr val="232B35"/>
                </a:solidFill>
                <a:latin typeface="Arial"/>
              </a:rPr>
              <a:t>Versioned packs, checksum, resumable sync and visible pack date.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5148072"/>
            <a:ext cx="10835640" cy="438912"/>
          </a:xfrm>
          <a:prstGeom prst="roundRect">
            <a:avLst/>
          </a:prstGeom>
          <a:solidFill>
            <a:srgbClr val="132D4B"/>
          </a:solidFill>
          <a:ln w="12700">
            <a:solidFill>
              <a:srgbClr val="13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Viability test: a teacher completes one lesson, one voice exchange, one flashcard set and one worksheet generation with Wi-Fi disabled.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36576" bIns="36576"/>
          <a:lstStyle/>
          <a:p>
            <a:pPr eaLnBrk="1" hangingPunct="1" algn="ctr"/>
            <a:r>
              <a:rPr sz="2500" b="1">
                <a:solidFill>
                  <a:srgbClr val="132D4B"/>
                </a:solidFill>
                <a:latin typeface="Arial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TEAM SPRIT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94360" y="1234440"/>
            <a:ext cx="2514600" cy="960120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E67E22"/>
                </a:solidFill>
                <a:latin typeface="Arial"/>
              </a:rPr>
              <a:t>INPUT</a:t>
            </a:r>
          </a:p>
          <a:p>
            <a:pPr algn="ctr"/>
            <a:r>
              <a:rPr sz="1100">
                <a:solidFill>
                  <a:srgbClr val="232B35"/>
                </a:solidFill>
                <a:latin typeface="Arial"/>
              </a:rPr>
              <a:t>Hindi-medium teacher
+ offline tablet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19272" y="1234440"/>
            <a:ext cx="2514600" cy="96012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17847E"/>
                </a:solidFill>
                <a:latin typeface="Arial"/>
              </a:rPr>
              <a:t>BRIDGE</a:t>
            </a:r>
          </a:p>
          <a:p>
            <a:pPr algn="ctr"/>
            <a:r>
              <a:rPr sz="1100">
                <a:solidFill>
                  <a:srgbClr val="232B35"/>
                </a:solidFill>
                <a:latin typeface="Arial"/>
              </a:rPr>
              <a:t>Validated Hindi →
Santhali teaching support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044184" y="1234440"/>
            <a:ext cx="2514600" cy="96012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2A66AA"/>
                </a:solidFill>
                <a:latin typeface="Arial"/>
              </a:rPr>
              <a:t>CLASSROOM</a:t>
            </a:r>
          </a:p>
          <a:p>
            <a:pPr algn="ctr"/>
            <a:r>
              <a:rPr sz="1100">
                <a:solidFill>
                  <a:srgbClr val="232B35"/>
                </a:solidFill>
                <a:latin typeface="Arial"/>
              </a:rPr>
              <a:t>Understandable prompts
+ active participation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769096" y="1234440"/>
            <a:ext cx="2514600" cy="960120"/>
          </a:xfrm>
          <a:prstGeom prst="roundRect">
            <a:avLst/>
          </a:prstGeom>
          <a:solidFill>
            <a:srgbClr val="FDF2E4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E67E22"/>
                </a:solidFill>
                <a:latin typeface="Arial"/>
              </a:rPr>
              <a:t>OUTCOME</a:t>
            </a:r>
          </a:p>
          <a:p>
            <a:pPr algn="ctr"/>
            <a:r>
              <a:rPr sz="1100">
                <a:solidFill>
                  <a:srgbClr val="232B35"/>
                </a:solidFill>
                <a:latin typeface="Arial"/>
              </a:rPr>
              <a:t>Stronger FLN practice
and teacher reach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127248" y="1709928"/>
            <a:ext cx="164592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5852160" y="1709928"/>
            <a:ext cx="164592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8577072" y="1709928"/>
            <a:ext cx="164592" cy="0"/>
          </a:xfrm>
          <a:prstGeom prst="line">
            <a:avLst/>
          </a:prstGeom>
          <a:ln w="317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594360" y="2542032"/>
            <a:ext cx="34747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FOR CHILDREN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Instruction begins with a language they understand at home.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Picture, oral and bilingual activities support listening and early reading.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More opportunities to answer, repeat and practise.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325112" y="2542032"/>
            <a:ext cx="34747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FOR TEACHERS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Ready-to-use scripts, activities and assessment prompts.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Pronunciation assistance without requiring prior Santhali training.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Offline access during the actual school day.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55864" y="2542032"/>
            <a:ext cx="341985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rial"/>
              </a:rPr>
              <a:t>FOR THE SYSTEM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A repeatable content-pack model for 5,000+ tribal-area schools.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Native-review workflow protects language quality.</a:t>
            </a:r>
          </a:p>
          <a:p>
            <a:pPr>
              <a:spcAft>
                <a:spcPts val="100"/>
              </a:spcAft>
              <a:defRPr sz="1130">
                <a:solidFill>
                  <a:srgbClr val="232B35"/>
                </a:solidFill>
                <a:latin typeface="Arial"/>
              </a:defRPr>
            </a:pPr>
            <a:r>
              <a:t>The same platform can later add Ho and Mundari.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4360" y="4846320"/>
            <a:ext cx="1874519" cy="310896"/>
          </a:xfrm>
          <a:prstGeom prst="roundRect">
            <a:avLst/>
          </a:prstGeom>
          <a:solidFill>
            <a:srgbClr val="13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MVP SUCCESS TARGETS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633472" y="4846320"/>
            <a:ext cx="1664208" cy="621792"/>
          </a:xfrm>
          <a:prstGeom prst="roundRect">
            <a:avLst/>
          </a:prstGeom>
          <a:solidFill>
            <a:srgbClr val="17847E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≥ 200 validated
classroom phrases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608576" y="4846320"/>
            <a:ext cx="1664208" cy="621792"/>
          </a:xfrm>
          <a:prstGeom prst="roundRect">
            <a:avLst/>
          </a:prstGeom>
          <a:solidFill>
            <a:srgbClr val="2A66AA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 lesson packs
+ 10 worksheets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583680" y="4846320"/>
            <a:ext cx="1664208" cy="621792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visual cards
with audio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558784" y="4846320"/>
            <a:ext cx="1664208" cy="621792"/>
          </a:xfrm>
          <a:prstGeom prst="roundRect">
            <a:avLst/>
          </a:prstGeom>
          <a:solidFill>
            <a:srgbClr val="132D4B"/>
          </a:solidFill>
          <a:ln w="12700">
            <a:solidFill>
              <a:srgbClr val="13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≤ 3 s target
measured on tablet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36576" bIns="36576"/>
          <a:lstStyle/>
          <a:p>
            <a:pPr eaLnBrk="1" hangingPunct="1" algn="ctr"/>
            <a:r>
              <a:rPr sz="2500" b="1">
                <a:solidFill>
                  <a:srgbClr val="132D4B"/>
                </a:solidFill>
                <a:latin typeface="Arial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TEAM SPRIT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94360" y="1234440"/>
            <a:ext cx="5440680" cy="35661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2A66AA"/>
                </a:solidFill>
                <a:latin typeface="Arial"/>
              </a:rPr>
              <a:t>PRIMARY REFERENCES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1. Smart India Hackathon 2026 – Problem Statement SIH26042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https://sih.gov.in/sih2026PS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2. Ministry of Education – NIPUN Bharat Guidelines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https://dsel.education.gov.in/sites/default/files/2021-07/NIPUN_BHARAT_GUIDELINES_EN.pdf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3. National Education Policy 2020 – multilingual education and FLN context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https://www.education.gov.in/sites/upload_files/mhrd/files/NEP_Final_English_0.pdf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63640" y="1234440"/>
            <a:ext cx="5212080" cy="3566160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17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1400" b="1">
                <a:solidFill>
                  <a:srgbClr val="17847E"/>
                </a:solidFill>
                <a:latin typeface="Arial"/>
              </a:rPr>
              <a:t>TECHNICAL REFERENCES AND DESIGN BASIS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4. AI4Bharat – Indian-language AI research and open resources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https://ai4bharat.iitm.ac.in/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5. Vosk – offline speech-recognition toolkit reference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https://alphacephei.com/vosk/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6. Prototype design basis</a:t>
            </a:r>
          </a:p>
          <a:p>
            <a:pPr>
              <a:spcAft>
                <a:spcPts val="100"/>
              </a:spcAft>
              <a:defRPr sz="1120">
                <a:solidFill>
                  <a:srgbClr val="232B35"/>
                </a:solidFill>
                <a:latin typeface="Arial"/>
              </a:defRPr>
            </a:pPr>
            <a:r>
              <a:t>   Offline-first delivery • classroom-domain phrase retrieval • native-speaker review • versioned content packs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5056632"/>
            <a:ext cx="10881360" cy="566928"/>
          </a:xfrm>
          <a:prstGeom prst="roundRect">
            <a:avLst/>
          </a:prstGeom>
          <a:solidFill>
            <a:srgbClr val="132D4B"/>
          </a:solidFill>
          <a:ln w="12700">
            <a:solidFill>
              <a:srgbClr val="13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Prototype boundary: Santhali first. Ho and Mundari expansion will follow only after validated data, native-speaker review and low-end-device testing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PALASH SETU – SIH 2026 Idea Presentation</dc:title>
  <dc:subject>SIH26042: Offline AI-powered vernacular pedagogy and real-time Hindi-to-Santhali classroom translation</dc:subject>
  <dc:creator>Team Sprit</dc:creator>
  <cp:keywords>SIH2026, Santhali, MTB-MLE, NIPUN Bharat, offline AI, FLN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